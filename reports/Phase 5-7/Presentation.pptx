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95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6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87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2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1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29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78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9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3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9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64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8345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57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81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98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40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81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4273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InventoryHub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Presented By:</a:t>
            </a:r>
          </a:p>
          <a:p>
            <a:pPr indent="-342900"/>
            <a:r>
              <a:rPr lang="en-US" dirty="0"/>
              <a:t>Anees Ahmed Paracha</a:t>
            </a:r>
            <a:endParaRPr dirty="0"/>
          </a:p>
          <a:p>
            <a:pPr indent="-342900"/>
            <a:r>
              <a:rPr lang="en-US" dirty="0"/>
              <a:t>M. Umair Sohail</a:t>
            </a:r>
            <a:endParaRPr dirty="0"/>
          </a:p>
          <a:p>
            <a:pPr indent="-342900"/>
            <a:r>
              <a:rPr lang="en-US" dirty="0"/>
              <a:t>Shariq Ali Jia Abbasi</a:t>
            </a:r>
            <a:endParaRPr dirty="0"/>
          </a:p>
          <a:p>
            <a:pPr indent="-342900"/>
            <a:r>
              <a:rPr lang="en-US" dirty="0"/>
              <a:t>Waleed Ahmad Farooqi</a:t>
            </a:r>
            <a:endParaRPr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Presented</a:t>
            </a:r>
            <a:r>
              <a:rPr dirty="0"/>
              <a:t> To:</a:t>
            </a:r>
          </a:p>
          <a:p>
            <a:pPr marL="0" indent="0">
              <a:buNone/>
            </a:pPr>
            <a:r>
              <a:rPr lang="en-US"/>
              <a:t>Sir Muhammad Ahmad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2400" dirty="0"/>
              <a:t>Why InventoryHub?</a:t>
            </a:r>
            <a:endParaRPr lang="en-US" sz="2400" dirty="0"/>
          </a:p>
          <a:p>
            <a:pPr marL="0" indent="0">
              <a:buNone/>
            </a:pPr>
            <a:r>
              <a:rPr sz="2400" dirty="0"/>
              <a:t>Organizations rely heavily on inventory systems for managing stock, suppliers, and purchase records.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• Weak authentication mechanisms</a:t>
            </a:r>
          </a:p>
          <a:p>
            <a:pPr marL="0" indent="0">
              <a:buNone/>
            </a:pPr>
            <a:r>
              <a:rPr sz="2400" dirty="0"/>
              <a:t>• Unauthorized access to inventory records</a:t>
            </a:r>
          </a:p>
          <a:p>
            <a:pPr marL="0" indent="0">
              <a:buNone/>
            </a:pPr>
            <a:r>
              <a:rPr sz="2400" dirty="0"/>
              <a:t>• Poor audit logging</a:t>
            </a:r>
          </a:p>
          <a:p>
            <a:pPr marL="0" indent="0">
              <a:buNone/>
            </a:pPr>
            <a:r>
              <a:rPr sz="2400" dirty="0"/>
              <a:t>• Lack of monitoring and security visibility</a:t>
            </a:r>
          </a:p>
          <a:p>
            <a:pPr marL="0" indent="0">
              <a:buNone/>
            </a:pPr>
            <a:r>
              <a:rPr sz="2400" dirty="0"/>
              <a:t>• Security vulnerabilities during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208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Develop a secure inventory management platform</a:t>
            </a:r>
          </a:p>
          <a:p>
            <a:pPr marL="0" indent="0">
              <a:buNone/>
            </a:pPr>
            <a:r>
              <a:rPr sz="2400" dirty="0"/>
              <a:t>• Implement strong authentication and authorization</a:t>
            </a:r>
          </a:p>
          <a:p>
            <a:pPr marL="0" indent="0">
              <a:buNone/>
            </a:pPr>
            <a:r>
              <a:rPr sz="2400" dirty="0"/>
              <a:t>• Protect sensitive inventory data</a:t>
            </a:r>
          </a:p>
          <a:p>
            <a:pPr marL="0" indent="0">
              <a:buNone/>
            </a:pPr>
            <a:r>
              <a:rPr sz="2400" dirty="0"/>
              <a:t>• Perform threat modelling and risk assessment</a:t>
            </a:r>
          </a:p>
          <a:p>
            <a:pPr marL="0" indent="0">
              <a:buNone/>
            </a:pPr>
            <a:r>
              <a:rPr sz="2400" dirty="0"/>
              <a:t>• Apply secure coding practices</a:t>
            </a:r>
          </a:p>
          <a:p>
            <a:pPr marL="0" indent="0">
              <a:buNone/>
            </a:pPr>
            <a:r>
              <a:rPr sz="2400" dirty="0"/>
              <a:t>• Implement logging and monitoring</a:t>
            </a:r>
          </a:p>
          <a:p>
            <a:pPr marL="0" indent="0">
              <a:buNone/>
            </a:pPr>
            <a:r>
              <a:rPr sz="2400" dirty="0"/>
              <a:t>• Secure deployment using Docker and Kubernetes</a:t>
            </a:r>
          </a:p>
          <a:p>
            <a:pPr marL="0" indent="0">
              <a:buNone/>
            </a:pPr>
            <a:r>
              <a:rPr sz="2400" dirty="0"/>
              <a:t>• Integrate </a:t>
            </a:r>
            <a:r>
              <a:rPr sz="2400" dirty="0" err="1"/>
              <a:t>DevSecOps</a:t>
            </a:r>
            <a:r>
              <a:rPr sz="2400" dirty="0"/>
              <a:t> and Infrastructure as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61297"/>
            <a:ext cx="8229600" cy="1143000"/>
          </a:xfrm>
        </p:spPr>
        <p:txBody>
          <a:bodyPr/>
          <a:lstStyle/>
          <a:p>
            <a:r>
              <a:rPr dirty="0"/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59" y="953313"/>
            <a:ext cx="11844671" cy="5950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InventoryHub is a secure web-based inventory management platform.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Main Features:</a:t>
            </a:r>
            <a:r>
              <a:rPr lang="en-US" sz="1600" b="1" dirty="0"/>
              <a:t>		</a:t>
            </a:r>
            <a:r>
              <a:rPr lang="en-US" sz="1600" dirty="0"/>
              <a:t>						</a:t>
            </a:r>
            <a:endParaRPr sz="1600" dirty="0"/>
          </a:p>
          <a:p>
            <a:pPr marL="0" indent="0">
              <a:buNone/>
            </a:pPr>
            <a:r>
              <a:rPr sz="1600" dirty="0"/>
              <a:t>• Inventory Management</a:t>
            </a:r>
          </a:p>
          <a:p>
            <a:pPr marL="0" indent="0">
              <a:buNone/>
            </a:pPr>
            <a:r>
              <a:rPr sz="1600" dirty="0"/>
              <a:t>• Supplier Management</a:t>
            </a:r>
          </a:p>
          <a:p>
            <a:pPr marL="0" indent="0">
              <a:buNone/>
            </a:pPr>
            <a:r>
              <a:rPr sz="1600" dirty="0"/>
              <a:t>• Stock Updates</a:t>
            </a:r>
          </a:p>
          <a:p>
            <a:pPr marL="0" indent="0">
              <a:buNone/>
            </a:pPr>
            <a:r>
              <a:rPr sz="1600" dirty="0"/>
              <a:t>• Purchase Records</a:t>
            </a:r>
          </a:p>
          <a:p>
            <a:pPr marL="0" indent="0">
              <a:buNone/>
            </a:pPr>
            <a:r>
              <a:rPr sz="1600" dirty="0"/>
              <a:t>• Reporting</a:t>
            </a:r>
          </a:p>
          <a:p>
            <a:pPr marL="0" indent="0">
              <a:buNone/>
            </a:pPr>
            <a:r>
              <a:rPr sz="1600" dirty="0"/>
              <a:t>• Audit Logging</a:t>
            </a:r>
          </a:p>
          <a:p>
            <a:pPr marL="0" indent="0">
              <a:buNone/>
            </a:pPr>
            <a:r>
              <a:rPr sz="1600" dirty="0"/>
              <a:t>• Security Monitoring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User Roles:</a:t>
            </a:r>
          </a:p>
          <a:p>
            <a:pPr marL="0" indent="0">
              <a:buNone/>
            </a:pPr>
            <a:r>
              <a:rPr lang="en-US" sz="1600" dirty="0"/>
              <a:t>• Admin</a:t>
            </a:r>
          </a:p>
          <a:p>
            <a:pPr marL="0" indent="0">
              <a:buNone/>
            </a:pPr>
            <a:r>
              <a:rPr lang="en-US" sz="1600" dirty="0"/>
              <a:t>• Inventory Manager</a:t>
            </a:r>
          </a:p>
          <a:p>
            <a:pPr marL="0" indent="0">
              <a:buNone/>
            </a:pPr>
            <a:r>
              <a:rPr lang="en-US" sz="1600" dirty="0"/>
              <a:t>• Staff/User</a:t>
            </a:r>
          </a:p>
          <a:p>
            <a:pPr marL="0" indent="0">
              <a:buNone/>
            </a:pPr>
            <a:r>
              <a:rPr lang="en-US" sz="1600" dirty="0"/>
              <a:t>• Auditor</a:t>
            </a:r>
            <a:endParaRPr sz="1600" dirty="0"/>
          </a:p>
          <a:p>
            <a:pPr marL="0" indent="0"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13020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Critical Assets:</a:t>
            </a:r>
          </a:p>
          <a:p>
            <a:pPr marL="0" indent="0">
              <a:buNone/>
            </a:pPr>
            <a:r>
              <a:rPr dirty="0"/>
              <a:t>• User Accounts</a:t>
            </a:r>
          </a:p>
          <a:p>
            <a:pPr marL="0" indent="0">
              <a:buNone/>
            </a:pPr>
            <a:r>
              <a:rPr dirty="0"/>
              <a:t>• Inventory Records</a:t>
            </a:r>
          </a:p>
          <a:p>
            <a:pPr marL="0" indent="0">
              <a:buNone/>
            </a:pPr>
            <a:r>
              <a:rPr dirty="0"/>
              <a:t>• Supplier Records</a:t>
            </a:r>
          </a:p>
          <a:p>
            <a:pPr marL="0" indent="0">
              <a:buNone/>
            </a:pPr>
            <a:r>
              <a:rPr dirty="0"/>
              <a:t>• Purchase Orders</a:t>
            </a:r>
          </a:p>
          <a:p>
            <a:pPr marL="0" indent="0">
              <a:buNone/>
            </a:pPr>
            <a:r>
              <a:rPr dirty="0"/>
              <a:t>• Audit Logs</a:t>
            </a:r>
          </a:p>
          <a:p>
            <a:pPr marL="0" indent="0">
              <a:buNone/>
            </a:pPr>
            <a:r>
              <a:rPr dirty="0"/>
              <a:t>• Database</a:t>
            </a:r>
          </a:p>
          <a:p>
            <a:pPr marL="0" indent="0">
              <a:buNone/>
            </a:pPr>
            <a:r>
              <a:rPr dirty="0"/>
              <a:t>• Authentication Tokens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Security Goals:</a:t>
            </a:r>
          </a:p>
          <a:p>
            <a:pPr marL="0" indent="0">
              <a:buNone/>
            </a:pPr>
            <a:r>
              <a:rPr dirty="0"/>
              <a:t>• Confidentiality</a:t>
            </a:r>
          </a:p>
          <a:p>
            <a:pPr marL="0" indent="0">
              <a:buNone/>
            </a:pPr>
            <a:r>
              <a:rPr dirty="0"/>
              <a:t>• Integrity</a:t>
            </a:r>
          </a:p>
          <a:p>
            <a:pPr marL="0" indent="0">
              <a:buNone/>
            </a:pPr>
            <a:r>
              <a:rPr dirty="0"/>
              <a:t>• Availability</a:t>
            </a:r>
          </a:p>
          <a:p>
            <a:pPr marL="0" indent="0">
              <a:buNone/>
            </a:pPr>
            <a:r>
              <a:rPr dirty="0"/>
              <a:t>• Accountability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Threat modelling performed using Microsoft Threat Modelling Tool.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• Trust Boundary Identification</a:t>
            </a:r>
          </a:p>
          <a:p>
            <a:pPr marL="0" indent="0">
              <a:buNone/>
            </a:pPr>
            <a:r>
              <a:rPr sz="2400" dirty="0"/>
              <a:t>• Data Flow Analysis</a:t>
            </a:r>
          </a:p>
          <a:p>
            <a:pPr marL="0" indent="0">
              <a:buNone/>
            </a:pPr>
            <a:r>
              <a:rPr sz="2400" dirty="0"/>
              <a:t>• Asset Identification</a:t>
            </a:r>
          </a:p>
          <a:p>
            <a:pPr marL="0" indent="0">
              <a:buNone/>
            </a:pPr>
            <a:r>
              <a:rPr sz="2400" dirty="0"/>
              <a:t>• Threat Enumeration</a:t>
            </a:r>
          </a:p>
          <a:p>
            <a:pPr marL="0" indent="0">
              <a:buNone/>
            </a:pPr>
            <a:r>
              <a:rPr sz="2400" dirty="0"/>
              <a:t>• Risk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STRIDE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26" y="1605516"/>
            <a:ext cx="8229600" cy="4525963"/>
          </a:xfrm>
        </p:spPr>
        <p:txBody>
          <a:bodyPr>
            <a:normAutofit/>
          </a:bodyPr>
          <a:lstStyle/>
          <a:p>
            <a:r>
              <a:rPr sz="2400" dirty="0"/>
              <a:t>Spoofing</a:t>
            </a:r>
            <a:r>
              <a:rPr lang="en-US" sz="2400" dirty="0"/>
              <a:t>: </a:t>
            </a:r>
            <a:r>
              <a:rPr sz="2400" dirty="0"/>
              <a:t> Identity Impersonation</a:t>
            </a:r>
          </a:p>
          <a:p>
            <a:r>
              <a:rPr sz="2400" dirty="0"/>
              <a:t>Tampering</a:t>
            </a:r>
            <a:r>
              <a:rPr lang="en-US" sz="2400" dirty="0"/>
              <a:t>:</a:t>
            </a:r>
            <a:r>
              <a:rPr sz="2400" dirty="0"/>
              <a:t> Data Modification</a:t>
            </a:r>
          </a:p>
          <a:p>
            <a:r>
              <a:rPr sz="2400" dirty="0"/>
              <a:t>Repudiation</a:t>
            </a:r>
            <a:r>
              <a:rPr lang="en-US" sz="2400" dirty="0"/>
              <a:t>:</a:t>
            </a:r>
            <a:r>
              <a:rPr sz="2400" dirty="0"/>
              <a:t> Denial of Actions</a:t>
            </a:r>
          </a:p>
          <a:p>
            <a:r>
              <a:rPr sz="2400" dirty="0"/>
              <a:t>Information Disclosure</a:t>
            </a:r>
            <a:r>
              <a:rPr lang="en-US" sz="2400" dirty="0"/>
              <a:t>:</a:t>
            </a:r>
            <a:r>
              <a:rPr sz="2400" dirty="0"/>
              <a:t> Data Leakage</a:t>
            </a:r>
          </a:p>
          <a:p>
            <a:r>
              <a:rPr sz="2400" dirty="0"/>
              <a:t>Denial of Service</a:t>
            </a:r>
            <a:r>
              <a:rPr lang="en-US" sz="2400" dirty="0"/>
              <a:t>:</a:t>
            </a:r>
            <a:r>
              <a:rPr sz="2400" dirty="0"/>
              <a:t> Service Disruption</a:t>
            </a:r>
          </a:p>
          <a:p>
            <a:r>
              <a:rPr sz="2400" dirty="0"/>
              <a:t>Elevation of Privilege</a:t>
            </a:r>
            <a:r>
              <a:rPr lang="en-US" sz="2400" dirty="0"/>
              <a:t>:</a:t>
            </a:r>
            <a:r>
              <a:rPr sz="2400" dirty="0"/>
              <a:t> Unauthorized Access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Security controls were designed to mitigate each threat category.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&amp; Data Flow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Shows interactions between:</a:t>
            </a:r>
          </a:p>
          <a:p>
            <a:pPr marL="0" indent="0">
              <a:buNone/>
            </a:pPr>
            <a:r>
              <a:rPr dirty="0"/>
              <a:t>• Admin</a:t>
            </a:r>
          </a:p>
          <a:p>
            <a:pPr marL="0" indent="0">
              <a:buNone/>
            </a:pPr>
            <a:r>
              <a:rPr dirty="0"/>
              <a:t>• Inventory Manager</a:t>
            </a:r>
          </a:p>
          <a:p>
            <a:pPr marL="0" indent="0">
              <a:buNone/>
            </a:pPr>
            <a:r>
              <a:rPr dirty="0"/>
              <a:t>• Staff</a:t>
            </a:r>
          </a:p>
          <a:p>
            <a:pPr marL="0" indent="0">
              <a:buNone/>
            </a:pPr>
            <a:r>
              <a:rPr dirty="0"/>
              <a:t>• Auditor</a:t>
            </a:r>
          </a:p>
          <a:p>
            <a:pPr marL="0" indent="0">
              <a:buNone/>
            </a:pPr>
            <a:endParaRPr b="1" dirty="0"/>
          </a:p>
          <a:p>
            <a:pPr marL="0" indent="0">
              <a:buNone/>
            </a:pPr>
            <a:r>
              <a:rPr b="1" dirty="0"/>
              <a:t>Secure movement of:</a:t>
            </a:r>
          </a:p>
          <a:p>
            <a:pPr marL="0" indent="0">
              <a:buNone/>
            </a:pPr>
            <a:r>
              <a:rPr dirty="0"/>
              <a:t>• User Requests</a:t>
            </a:r>
          </a:p>
          <a:p>
            <a:pPr marL="0" indent="0">
              <a:buNone/>
            </a:pPr>
            <a:r>
              <a:rPr dirty="0"/>
              <a:t>• Inventory Records</a:t>
            </a:r>
          </a:p>
          <a:p>
            <a:pPr marL="0" indent="0">
              <a:buNone/>
            </a:pPr>
            <a:r>
              <a:rPr dirty="0"/>
              <a:t>• Supplier Data</a:t>
            </a:r>
          </a:p>
          <a:p>
            <a:pPr marL="0" indent="0">
              <a:buNone/>
            </a:pPr>
            <a:r>
              <a:rPr dirty="0"/>
              <a:t>• Audit Logs</a:t>
            </a:r>
          </a:p>
          <a:p>
            <a:pPr marL="0" indent="0">
              <a:buNone/>
            </a:pPr>
            <a:r>
              <a:rPr dirty="0"/>
              <a:t>• Security Events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Layers:</a:t>
            </a:r>
          </a:p>
          <a:p>
            <a:pPr marL="0" indent="0">
              <a:buNone/>
            </a:pPr>
            <a:r>
              <a:rPr dirty="0"/>
              <a:t>• User Access Layer</a:t>
            </a:r>
          </a:p>
          <a:p>
            <a:pPr marL="0" indent="0">
              <a:buNone/>
            </a:pPr>
            <a:r>
              <a:rPr dirty="0"/>
              <a:t>• Application Layer</a:t>
            </a:r>
          </a:p>
          <a:p>
            <a:pPr marL="0" indent="0">
              <a:buNone/>
            </a:pPr>
            <a:r>
              <a:rPr dirty="0"/>
              <a:t>• Database Layer</a:t>
            </a:r>
          </a:p>
          <a:p>
            <a:pPr marL="0" indent="0">
              <a:buNone/>
            </a:pPr>
            <a:r>
              <a:rPr dirty="0"/>
              <a:t>• Supporting Services Layer</a:t>
            </a:r>
          </a:p>
          <a:p>
            <a:pPr marL="0" indent="0">
              <a:buNone/>
            </a:pPr>
            <a:r>
              <a:rPr dirty="0"/>
              <a:t>• Monitoring Layer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Security Principles:</a:t>
            </a:r>
          </a:p>
          <a:p>
            <a:pPr marL="0" indent="0">
              <a:buNone/>
            </a:pPr>
            <a:r>
              <a:rPr dirty="0"/>
              <a:t>• Least Privilege</a:t>
            </a:r>
          </a:p>
          <a:p>
            <a:pPr marL="0" indent="0">
              <a:buNone/>
            </a:pPr>
            <a:r>
              <a:rPr dirty="0"/>
              <a:t>• Defense in Depth</a:t>
            </a:r>
          </a:p>
          <a:p>
            <a:pPr marL="0" indent="0">
              <a:buNone/>
            </a:pPr>
            <a:r>
              <a:rPr dirty="0"/>
              <a:t>• Zero Trust</a:t>
            </a:r>
          </a:p>
          <a:p>
            <a:pPr marL="0" indent="0">
              <a:buNone/>
            </a:pPr>
            <a:r>
              <a:rPr dirty="0"/>
              <a:t>• Secure by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&amp; Authorization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Authentication:</a:t>
            </a:r>
          </a:p>
          <a:p>
            <a:pPr marL="0" indent="0">
              <a:buNone/>
            </a:pPr>
            <a:r>
              <a:rPr sz="1600" dirty="0"/>
              <a:t>• JWT Authentication</a:t>
            </a:r>
          </a:p>
          <a:p>
            <a:pPr marL="0" indent="0">
              <a:buNone/>
            </a:pPr>
            <a:r>
              <a:rPr sz="1600" dirty="0"/>
              <a:t>• Token Verification</a:t>
            </a:r>
          </a:p>
          <a:p>
            <a:pPr marL="0" indent="0">
              <a:buNone/>
            </a:pPr>
            <a:r>
              <a:rPr sz="1600" dirty="0"/>
              <a:t>• Session Protection</a:t>
            </a:r>
          </a:p>
          <a:p>
            <a:pPr marL="0" indent="0">
              <a:buNone/>
            </a:pPr>
            <a:endParaRPr sz="1600" b="1" dirty="0"/>
          </a:p>
          <a:p>
            <a:pPr marL="0" indent="0">
              <a:buNone/>
            </a:pPr>
            <a:r>
              <a:rPr sz="1600" b="1" dirty="0"/>
              <a:t>Authorization:</a:t>
            </a:r>
          </a:p>
          <a:p>
            <a:pPr marL="0" indent="0">
              <a:buNone/>
            </a:pPr>
            <a:r>
              <a:rPr sz="1600" dirty="0"/>
              <a:t>• Role-Based Access Control (RBAC)</a:t>
            </a:r>
          </a:p>
          <a:p>
            <a:pPr marL="0" indent="0">
              <a:buNone/>
            </a:pPr>
            <a:endParaRPr sz="1600" b="1" dirty="0"/>
          </a:p>
          <a:p>
            <a:pPr marL="0" indent="0">
              <a:buNone/>
            </a:pPr>
            <a:r>
              <a:rPr sz="1600" b="1" dirty="0"/>
              <a:t>Roles:</a:t>
            </a:r>
          </a:p>
          <a:p>
            <a:pPr marL="0" indent="0">
              <a:buNone/>
            </a:pPr>
            <a:r>
              <a:rPr sz="1600" dirty="0"/>
              <a:t>• Admin</a:t>
            </a:r>
          </a:p>
          <a:p>
            <a:pPr marL="0" indent="0">
              <a:buNone/>
            </a:pPr>
            <a:r>
              <a:rPr sz="1600" dirty="0"/>
              <a:t>• Inventory Manager</a:t>
            </a:r>
          </a:p>
          <a:p>
            <a:pPr marL="0" indent="0">
              <a:buNone/>
            </a:pPr>
            <a:r>
              <a:rPr sz="1600" dirty="0"/>
              <a:t>• Staff</a:t>
            </a:r>
          </a:p>
          <a:p>
            <a:pPr marL="0" indent="0">
              <a:buNone/>
            </a:pPr>
            <a:r>
              <a:rPr sz="1600" dirty="0"/>
              <a:t>• Auditor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Controls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86" y="178095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Helmet for HTTP Header Security</a:t>
            </a:r>
          </a:p>
          <a:p>
            <a:pPr marL="0" indent="0">
              <a:buNone/>
            </a:pPr>
            <a:r>
              <a:rPr sz="2400" dirty="0"/>
              <a:t>• Zod Input Validation</a:t>
            </a:r>
          </a:p>
          <a:p>
            <a:pPr marL="0" indent="0">
              <a:buNone/>
            </a:pPr>
            <a:r>
              <a:rPr sz="2400" dirty="0"/>
              <a:t>• CORS Protection</a:t>
            </a:r>
          </a:p>
          <a:p>
            <a:pPr marL="0" indent="0">
              <a:buNone/>
            </a:pPr>
            <a:r>
              <a:rPr sz="2400" dirty="0"/>
              <a:t>• </a:t>
            </a:r>
            <a:r>
              <a:rPr sz="2400" dirty="0" err="1"/>
              <a:t>bcrypt</a:t>
            </a:r>
            <a:r>
              <a:rPr sz="2400" dirty="0"/>
              <a:t> Password Hashing</a:t>
            </a:r>
          </a:p>
          <a:p>
            <a:pPr marL="0" indent="0">
              <a:buNone/>
            </a:pPr>
            <a:r>
              <a:rPr sz="2400" dirty="0"/>
              <a:t>• Audit Logging</a:t>
            </a:r>
          </a:p>
          <a:p>
            <a:pPr marL="0" indent="0">
              <a:buNone/>
            </a:pPr>
            <a:r>
              <a:rPr sz="2400" dirty="0"/>
              <a:t>• Security Alerts &amp; Suspicious Activity 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Redis &amp; Kafka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80050"/>
            <a:ext cx="7765322" cy="40587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400" b="1" dirty="0">
                <a:solidFill>
                  <a:schemeClr val="tx1"/>
                </a:solidFill>
                <a:effectLst/>
              </a:rPr>
              <a:t>Redis:</a:t>
            </a:r>
          </a:p>
          <a:p>
            <a:pPr marL="0" indent="0">
              <a:buNone/>
            </a:pPr>
            <a:r>
              <a:rPr sz="1400" dirty="0">
                <a:solidFill>
                  <a:schemeClr val="tx1"/>
                </a:solidFill>
                <a:effectLst/>
              </a:rPr>
              <a:t>• Failed Login Tracking</a:t>
            </a:r>
          </a:p>
          <a:p>
            <a:pPr marL="0" indent="0">
              <a:buNone/>
            </a:pPr>
            <a:r>
              <a:rPr sz="1400" dirty="0">
                <a:solidFill>
                  <a:schemeClr val="tx1"/>
                </a:solidFill>
                <a:effectLst/>
              </a:rPr>
              <a:t>• Temporary Security State</a:t>
            </a:r>
          </a:p>
          <a:p>
            <a:pPr marL="0" indent="0">
              <a:buNone/>
            </a:pPr>
            <a:r>
              <a:rPr sz="1400" dirty="0">
                <a:solidFill>
                  <a:schemeClr val="tx1"/>
                </a:solidFill>
                <a:effectLst/>
              </a:rPr>
              <a:t>• Caching</a:t>
            </a:r>
          </a:p>
          <a:p>
            <a:pPr marL="0" indent="0">
              <a:buNone/>
            </a:pPr>
            <a:endParaRPr sz="1400" b="1" dirty="0"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sz="1400" b="1" dirty="0">
                <a:solidFill>
                  <a:schemeClr val="tx1"/>
                </a:solidFill>
                <a:effectLst/>
              </a:rPr>
              <a:t>Kafka:</a:t>
            </a:r>
          </a:p>
          <a:p>
            <a:pPr marL="0" indent="0">
              <a:buNone/>
            </a:pPr>
            <a:r>
              <a:rPr sz="1400" dirty="0">
                <a:solidFill>
                  <a:schemeClr val="tx1"/>
                </a:solidFill>
                <a:effectLst/>
              </a:rPr>
              <a:t>• Security Event Streaming</a:t>
            </a:r>
          </a:p>
          <a:p>
            <a:pPr marL="0" indent="0">
              <a:buNone/>
            </a:pPr>
            <a:r>
              <a:rPr sz="1400" dirty="0">
                <a:solidFill>
                  <a:schemeClr val="tx1"/>
                </a:solidFill>
                <a:effectLst/>
              </a:rPr>
              <a:t>• Inventory Event Publishing</a:t>
            </a:r>
          </a:p>
          <a:p>
            <a:pPr marL="0" indent="0">
              <a:buNone/>
            </a:pPr>
            <a:r>
              <a:rPr sz="1400" dirty="0">
                <a:solidFill>
                  <a:schemeClr val="tx1"/>
                </a:solidFill>
                <a:effectLst/>
              </a:rPr>
              <a:t>• Activity Monitoring</a:t>
            </a:r>
          </a:p>
          <a:p>
            <a:pPr marL="0" indent="0">
              <a:buNone/>
            </a:pPr>
            <a:endParaRPr sz="1400" b="1" dirty="0"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sz="1400" b="1" dirty="0">
                <a:solidFill>
                  <a:schemeClr val="tx1"/>
                </a:solidFill>
                <a:effectLst/>
              </a:rPr>
              <a:t>Benefits:</a:t>
            </a:r>
          </a:p>
          <a:p>
            <a:pPr marL="0" indent="0">
              <a:buNone/>
            </a:pPr>
            <a:r>
              <a:rPr sz="1400" dirty="0">
                <a:solidFill>
                  <a:schemeClr val="tx1"/>
                </a:solidFill>
                <a:effectLst/>
              </a:rPr>
              <a:t>• Scalability</a:t>
            </a:r>
          </a:p>
          <a:p>
            <a:pPr marL="0" indent="0">
              <a:buNone/>
            </a:pPr>
            <a:r>
              <a:rPr sz="1400" dirty="0">
                <a:solidFill>
                  <a:schemeClr val="tx1"/>
                </a:solidFill>
                <a:effectLst/>
              </a:rPr>
              <a:t>• Event Driven Architecture</a:t>
            </a:r>
          </a:p>
          <a:p>
            <a:pPr marL="0" indent="0">
              <a:buNone/>
            </a:pPr>
            <a:r>
              <a:rPr sz="1400" dirty="0">
                <a:solidFill>
                  <a:schemeClr val="tx1"/>
                </a:solidFill>
                <a:effectLst/>
              </a:rPr>
              <a:t>• Better Security Visibility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4177"/>
            <a:ext cx="7765322" cy="970450"/>
          </a:xfrm>
        </p:spPr>
        <p:txBody>
          <a:bodyPr/>
          <a:lstStyle/>
          <a:p>
            <a:r>
              <a:rPr dirty="0"/>
              <a:t>Security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01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Static Security Testing:</a:t>
            </a:r>
          </a:p>
          <a:p>
            <a:pPr marL="0" indent="0">
              <a:buNone/>
            </a:pPr>
            <a:r>
              <a:rPr sz="2400" dirty="0"/>
              <a:t>• GitHub </a:t>
            </a:r>
            <a:r>
              <a:rPr sz="2400" dirty="0" err="1"/>
              <a:t>CodeQL</a:t>
            </a:r>
            <a:endParaRPr sz="2400" dirty="0"/>
          </a:p>
          <a:p>
            <a:pPr marL="0" indent="0">
              <a:buNone/>
            </a:pPr>
            <a:r>
              <a:rPr sz="2400" dirty="0"/>
              <a:t>• SonarQube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Dynamic Security Testing:</a:t>
            </a:r>
          </a:p>
          <a:p>
            <a:pPr marL="0" indent="0">
              <a:buNone/>
            </a:pPr>
            <a:r>
              <a:rPr sz="2400" dirty="0"/>
              <a:t>• OWASP ZAP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Manual Testing:</a:t>
            </a:r>
          </a:p>
          <a:p>
            <a:pPr marL="0" indent="0">
              <a:buNone/>
            </a:pPr>
            <a:r>
              <a:rPr sz="2400" dirty="0"/>
              <a:t>• Authentication Testing</a:t>
            </a:r>
          </a:p>
          <a:p>
            <a:pPr marL="0" indent="0">
              <a:buNone/>
            </a:pPr>
            <a:r>
              <a:rPr sz="2400" dirty="0"/>
              <a:t>• Authorization Testing</a:t>
            </a:r>
          </a:p>
          <a:p>
            <a:pPr marL="0" indent="0">
              <a:buNone/>
            </a:pPr>
            <a:r>
              <a:rPr sz="2400" dirty="0"/>
              <a:t>• Access Control Verification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08897"/>
            <a:ext cx="7765322" cy="405875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sz="2400" b="1" dirty="0"/>
              <a:t>Security Measures:</a:t>
            </a:r>
          </a:p>
          <a:p>
            <a:pPr marL="0" indent="0">
              <a:buNone/>
            </a:pPr>
            <a:r>
              <a:rPr sz="2400" dirty="0"/>
              <a:t>• Minimal Attack Surface</a:t>
            </a:r>
          </a:p>
          <a:p>
            <a:pPr marL="0" indent="0">
              <a:buNone/>
            </a:pPr>
            <a:r>
              <a:rPr sz="2400" dirty="0"/>
              <a:t>• Controlled Dependencies</a:t>
            </a:r>
          </a:p>
          <a:p>
            <a:pPr marL="0" indent="0">
              <a:buNone/>
            </a:pPr>
            <a:r>
              <a:rPr sz="2400" dirty="0"/>
              <a:t>• Secure Configuration</a:t>
            </a:r>
          </a:p>
          <a:p>
            <a:pPr marL="0" indent="0">
              <a:buNone/>
            </a:pPr>
            <a:r>
              <a:rPr sz="2400" dirty="0"/>
              <a:t>• Container Isolation</a:t>
            </a:r>
          </a:p>
          <a:p>
            <a:pPr marL="0" indent="0">
              <a:buNone/>
            </a:pPr>
            <a:endParaRPr sz="2400" b="1" dirty="0"/>
          </a:p>
          <a:p>
            <a:pPr marL="0" indent="0">
              <a:buNone/>
            </a:pPr>
            <a:r>
              <a:rPr sz="2400" b="1" dirty="0"/>
              <a:t>Benefits:</a:t>
            </a:r>
          </a:p>
          <a:p>
            <a:pPr marL="0" indent="0">
              <a:buNone/>
            </a:pPr>
            <a:r>
              <a:rPr sz="2400" dirty="0"/>
              <a:t>• Portability</a:t>
            </a:r>
          </a:p>
          <a:p>
            <a:pPr marL="0" indent="0">
              <a:buNone/>
            </a:pPr>
            <a:r>
              <a:rPr sz="2400" dirty="0"/>
              <a:t>• Consistency</a:t>
            </a:r>
          </a:p>
          <a:p>
            <a:pPr marL="0" indent="0">
              <a:buNone/>
            </a:pPr>
            <a:r>
              <a:rPr sz="2400" dirty="0"/>
              <a:t>• Improved Deployment Security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sz="2400" dirty="0"/>
              <a:t>• Network Policies</a:t>
            </a:r>
          </a:p>
          <a:p>
            <a:pPr marL="0" indent="0">
              <a:buNone/>
            </a:pPr>
            <a:r>
              <a:rPr sz="2400" dirty="0"/>
              <a:t>• Security Contexts</a:t>
            </a:r>
          </a:p>
          <a:p>
            <a:pPr marL="0" indent="0">
              <a:buNone/>
            </a:pPr>
            <a:r>
              <a:rPr sz="2400" dirty="0"/>
              <a:t>• Resource Controls</a:t>
            </a:r>
          </a:p>
          <a:p>
            <a:pPr marL="0" indent="0">
              <a:buNone/>
            </a:pPr>
            <a:r>
              <a:rPr sz="2400" dirty="0"/>
              <a:t>• Secrets Management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b="1" dirty="0"/>
              <a:t>Benefits:</a:t>
            </a:r>
          </a:p>
          <a:p>
            <a:pPr marL="0" indent="0">
              <a:buNone/>
            </a:pPr>
            <a:r>
              <a:rPr sz="2400" dirty="0"/>
              <a:t>• Isolation</a:t>
            </a:r>
          </a:p>
          <a:p>
            <a:pPr marL="0" indent="0">
              <a:buNone/>
            </a:pPr>
            <a:r>
              <a:rPr sz="2400" dirty="0"/>
              <a:t>• Scalability</a:t>
            </a:r>
          </a:p>
          <a:p>
            <a:pPr marL="0" indent="0">
              <a:buNone/>
            </a:pPr>
            <a:r>
              <a:rPr sz="2400" dirty="0"/>
              <a:t>• High Availability</a:t>
            </a:r>
          </a:p>
          <a:p>
            <a:pPr marL="0" indent="0">
              <a:buNone/>
            </a:pPr>
            <a:r>
              <a:rPr sz="2400" dirty="0"/>
              <a:t>• Secure Deployments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as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sz="2400" b="1" dirty="0"/>
              <a:t>Terraform Benefits:</a:t>
            </a:r>
          </a:p>
          <a:p>
            <a:pPr marL="0" indent="0">
              <a:buNone/>
            </a:pPr>
            <a:r>
              <a:rPr sz="2400" dirty="0"/>
              <a:t>• Repeatable Infrastructure</a:t>
            </a:r>
          </a:p>
          <a:p>
            <a:pPr marL="0" indent="0">
              <a:buNone/>
            </a:pPr>
            <a:r>
              <a:rPr sz="2400" dirty="0"/>
              <a:t>• Reduced Configuration Errors</a:t>
            </a:r>
          </a:p>
          <a:p>
            <a:pPr marL="0" indent="0">
              <a:buNone/>
            </a:pPr>
            <a:r>
              <a:rPr sz="2400" dirty="0"/>
              <a:t>• Automated Deployment</a:t>
            </a:r>
          </a:p>
          <a:p>
            <a:pPr marL="0" indent="0">
              <a:buNone/>
            </a:pPr>
            <a:r>
              <a:rPr sz="2400" dirty="0"/>
              <a:t>• Version Controlled Infrastructure</a:t>
            </a:r>
          </a:p>
          <a:p>
            <a:pPr marL="0" indent="0">
              <a:buNone/>
            </a:pPr>
            <a:endParaRPr sz="2400" b="1" dirty="0"/>
          </a:p>
          <a:p>
            <a:pPr marL="0" indent="0">
              <a:buNone/>
            </a:pPr>
            <a:r>
              <a:rPr sz="2400" b="1" dirty="0"/>
              <a:t>Activities:</a:t>
            </a:r>
          </a:p>
          <a:p>
            <a:pPr marL="0" indent="0">
              <a:buNone/>
            </a:pPr>
            <a:r>
              <a:rPr sz="2400" dirty="0"/>
              <a:t>• Terraform Initialization</a:t>
            </a:r>
          </a:p>
          <a:p>
            <a:pPr marL="0" indent="0">
              <a:buNone/>
            </a:pPr>
            <a:r>
              <a:rPr sz="2400" dirty="0"/>
              <a:t>• Infrastructure Provisioning</a:t>
            </a:r>
          </a:p>
          <a:p>
            <a:pPr marL="0" indent="0">
              <a:buNone/>
            </a:pPr>
            <a:r>
              <a:rPr sz="2400" dirty="0"/>
              <a:t>• Resource Automation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24375"/>
            <a:ext cx="7765322" cy="970450"/>
          </a:xfrm>
        </p:spPr>
        <p:txBody>
          <a:bodyPr/>
          <a:lstStyle/>
          <a:p>
            <a:r>
              <a:rPr dirty="0"/>
              <a:t>Secrets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01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b="1" dirty="0"/>
              <a:t>HashiCorp Vault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b="1" dirty="0"/>
              <a:t>Stored Secrets:</a:t>
            </a:r>
          </a:p>
          <a:p>
            <a:pPr marL="0" indent="0">
              <a:buNone/>
            </a:pPr>
            <a:r>
              <a:rPr sz="2400" dirty="0"/>
              <a:t>• Database Credentials</a:t>
            </a:r>
          </a:p>
          <a:p>
            <a:pPr marL="0" indent="0">
              <a:buNone/>
            </a:pPr>
            <a:r>
              <a:rPr sz="2400" dirty="0"/>
              <a:t>• JWT Secrets</a:t>
            </a:r>
          </a:p>
          <a:p>
            <a:pPr marL="0" indent="0">
              <a:buNone/>
            </a:pPr>
            <a:r>
              <a:rPr sz="2400" dirty="0"/>
              <a:t>• Application Configuration</a:t>
            </a:r>
          </a:p>
          <a:p>
            <a:pPr marL="0" indent="0">
              <a:buNone/>
            </a:pPr>
            <a:endParaRPr sz="2400" b="1" dirty="0"/>
          </a:p>
          <a:p>
            <a:pPr marL="0" indent="0">
              <a:buNone/>
            </a:pPr>
            <a:r>
              <a:rPr sz="2400" b="1" dirty="0"/>
              <a:t>Benefits:</a:t>
            </a:r>
          </a:p>
          <a:p>
            <a:pPr marL="0" indent="0">
              <a:buNone/>
            </a:pPr>
            <a:r>
              <a:rPr sz="2400" dirty="0"/>
              <a:t>• Secure Secret Storage</a:t>
            </a:r>
          </a:p>
          <a:p>
            <a:pPr marL="0" indent="0">
              <a:buNone/>
            </a:pPr>
            <a:r>
              <a:rPr sz="2400" dirty="0"/>
              <a:t>• Centralized Management</a:t>
            </a:r>
          </a:p>
          <a:p>
            <a:pPr marL="0" indent="0">
              <a:buNone/>
            </a:pPr>
            <a:r>
              <a:rPr sz="2400" dirty="0"/>
              <a:t>• Reduced Credential Exposure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DevSecOps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447" y="1866014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2400" b="1" dirty="0"/>
              <a:t>GitHub Actions Pipeline:</a:t>
            </a:r>
          </a:p>
          <a:p>
            <a:pPr marL="0" indent="0">
              <a:buNone/>
            </a:pPr>
            <a:r>
              <a:rPr sz="2400" dirty="0"/>
              <a:t>1. Source Code Validation</a:t>
            </a:r>
          </a:p>
          <a:p>
            <a:pPr marL="0" indent="0">
              <a:buNone/>
            </a:pPr>
            <a:r>
              <a:rPr sz="2400" dirty="0"/>
              <a:t>2. Security Scanning</a:t>
            </a:r>
          </a:p>
          <a:p>
            <a:pPr marL="0" indent="0">
              <a:buNone/>
            </a:pPr>
            <a:r>
              <a:rPr sz="2400" dirty="0"/>
              <a:t>3. Automated Testing</a:t>
            </a:r>
          </a:p>
          <a:p>
            <a:pPr marL="0" indent="0">
              <a:buNone/>
            </a:pPr>
            <a:r>
              <a:rPr sz="2400" dirty="0"/>
              <a:t>4. Build Verification</a:t>
            </a:r>
          </a:p>
          <a:p>
            <a:pPr marL="0" indent="0">
              <a:buNone/>
            </a:pPr>
            <a:r>
              <a:rPr sz="2400" dirty="0"/>
              <a:t>5. Deployment Validation</a:t>
            </a:r>
          </a:p>
          <a:p>
            <a:pPr marL="0" indent="0">
              <a:buNone/>
            </a:pPr>
            <a:endParaRPr sz="2400" b="1" dirty="0"/>
          </a:p>
          <a:p>
            <a:pPr marL="0" indent="0">
              <a:buNone/>
            </a:pPr>
            <a:r>
              <a:rPr sz="2400" b="1" dirty="0"/>
              <a:t>Advantages:</a:t>
            </a:r>
          </a:p>
          <a:p>
            <a:pPr marL="0" indent="0">
              <a:buNone/>
            </a:pPr>
            <a:r>
              <a:rPr sz="2400" dirty="0"/>
              <a:t>• Early Vulnerability Detection</a:t>
            </a:r>
          </a:p>
          <a:p>
            <a:pPr marL="0" indent="0">
              <a:buNone/>
            </a:pPr>
            <a:r>
              <a:rPr sz="2400" dirty="0"/>
              <a:t>• Automated Security Checks</a:t>
            </a:r>
          </a:p>
          <a:p>
            <a:pPr marL="0" indent="0">
              <a:buNone/>
            </a:pPr>
            <a:r>
              <a:rPr sz="2400" dirty="0"/>
              <a:t>• Continuous Compliance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AI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019" y="1626781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400" b="1" dirty="0"/>
              <a:t>Monitoring:</a:t>
            </a:r>
          </a:p>
          <a:p>
            <a:pPr marL="0" indent="0">
              <a:buNone/>
            </a:pPr>
            <a:r>
              <a:rPr sz="2400" dirty="0"/>
              <a:t>• Login Activity</a:t>
            </a:r>
          </a:p>
          <a:p>
            <a:pPr marL="0" indent="0">
              <a:buNone/>
            </a:pPr>
            <a:r>
              <a:rPr sz="2400" dirty="0"/>
              <a:t>• Inventory Changes</a:t>
            </a:r>
          </a:p>
          <a:p>
            <a:pPr marL="0" indent="0">
              <a:buNone/>
            </a:pPr>
            <a:r>
              <a:rPr sz="2400" dirty="0"/>
              <a:t>• Audit Events</a:t>
            </a:r>
          </a:p>
          <a:p>
            <a:pPr marL="0" indent="0">
              <a:buNone/>
            </a:pPr>
            <a:r>
              <a:rPr sz="2400" dirty="0"/>
              <a:t>• Security Alerts</a:t>
            </a:r>
          </a:p>
          <a:p>
            <a:pPr marL="0" indent="0">
              <a:buNone/>
            </a:pPr>
            <a:endParaRPr sz="2400" b="1" dirty="0"/>
          </a:p>
          <a:p>
            <a:pPr marL="0" indent="0">
              <a:buNone/>
            </a:pPr>
            <a:r>
              <a:rPr sz="2400" b="1" dirty="0"/>
              <a:t>AI-Based Anomaly Detection:</a:t>
            </a:r>
          </a:p>
          <a:p>
            <a:pPr marL="0" indent="0">
              <a:buNone/>
            </a:pPr>
            <a:r>
              <a:rPr sz="2400" dirty="0"/>
              <a:t>• Early Threat Detection</a:t>
            </a:r>
          </a:p>
          <a:p>
            <a:pPr marL="0" indent="0">
              <a:buNone/>
            </a:pPr>
            <a:r>
              <a:rPr sz="2400" dirty="0"/>
              <a:t>• Reduced Manual Monitoring</a:t>
            </a:r>
          </a:p>
          <a:p>
            <a:pPr marL="0" indent="0">
              <a:buNone/>
            </a:pPr>
            <a:r>
              <a:rPr sz="2400" dirty="0"/>
              <a:t>• Improved Security Visibility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39" y="124375"/>
            <a:ext cx="7765322" cy="97045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763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InventoryHub demonstrates complete implementation of secure software development practices from requirements engineering to deployment and monitoring.</a:t>
            </a:r>
          </a:p>
          <a:p>
            <a:pPr marL="0" indent="0">
              <a:buNone/>
            </a:pPr>
            <a:endParaRPr b="1" dirty="0"/>
          </a:p>
          <a:p>
            <a:pPr marL="0" indent="0">
              <a:buNone/>
            </a:pPr>
            <a:r>
              <a:rPr b="1" dirty="0"/>
              <a:t>Integrated:</a:t>
            </a:r>
          </a:p>
          <a:p>
            <a:pPr marL="0" indent="0">
              <a:buNone/>
            </a:pPr>
            <a:r>
              <a:rPr dirty="0"/>
              <a:t>• Security by Design</a:t>
            </a:r>
          </a:p>
          <a:p>
            <a:pPr marL="0" indent="0">
              <a:buNone/>
            </a:pPr>
            <a:r>
              <a:rPr dirty="0"/>
              <a:t>• Secure Coding</a:t>
            </a:r>
          </a:p>
          <a:p>
            <a:pPr marL="0" indent="0">
              <a:buNone/>
            </a:pPr>
            <a:r>
              <a:rPr dirty="0"/>
              <a:t>• Security Testing</a:t>
            </a:r>
          </a:p>
          <a:p>
            <a:pPr marL="0" indent="0">
              <a:buNone/>
            </a:pPr>
            <a:r>
              <a:rPr dirty="0"/>
              <a:t>• Container Security</a:t>
            </a:r>
          </a:p>
          <a:p>
            <a:pPr marL="0" indent="0">
              <a:buNone/>
            </a:pPr>
            <a:r>
              <a:rPr dirty="0"/>
              <a:t>• Infrastructure Security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DevSecOps</a:t>
            </a:r>
            <a:endParaRPr dirty="0"/>
          </a:p>
          <a:p>
            <a:pPr marL="0" indent="0">
              <a:buNone/>
            </a:pPr>
            <a:r>
              <a:rPr dirty="0"/>
              <a:t>• Continuous Monitoring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41931"/>
            <a:ext cx="8686800" cy="3154362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E966DAFB71DE4DBB34F03BB13CE050" ma:contentTypeVersion="12" ma:contentTypeDescription="Create a new document." ma:contentTypeScope="" ma:versionID="21257bd51bb21063995a9eaac6414bca">
  <xsd:schema xmlns:xsd="http://www.w3.org/2001/XMLSchema" xmlns:xs="http://www.w3.org/2001/XMLSchema" xmlns:p="http://schemas.microsoft.com/office/2006/metadata/properties" xmlns:ns2="76fdb005-0f9a-4aa2-b5af-bcff156ca1f2" xmlns:ns3="6310cd04-5acf-43aa-9c41-22a42bb045f9" targetNamespace="http://schemas.microsoft.com/office/2006/metadata/properties" ma:root="true" ma:fieldsID="2a6105bef8ade3a9d8ba924c67b1b419" ns2:_="" ns3:_="">
    <xsd:import namespace="76fdb005-0f9a-4aa2-b5af-bcff156ca1f2"/>
    <xsd:import namespace="6310cd04-5acf-43aa-9c41-22a42bb045f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fdb005-0f9a-4aa2-b5af-bcff156ca1f2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982d53a-bb51-487e-8db8-b606b23a34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0cd04-5acf-43aa-9c41-22a42bb045f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48708ac0-627d-42c2-91b9-7287df7a57a8}" ma:internalName="TaxCatchAll" ma:showField="CatchAllData" ma:web="6310cd04-5acf-43aa-9c41-22a42bb045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6fdb005-0f9a-4aa2-b5af-bcff156ca1f2">
      <Terms xmlns="http://schemas.microsoft.com/office/infopath/2007/PartnerControls"/>
    </lcf76f155ced4ddcb4097134ff3c332f>
    <TaxCatchAll xmlns="6310cd04-5acf-43aa-9c41-22a42bb045f9" xsi:nil="true"/>
    <ReferenceId xmlns="76fdb005-0f9a-4aa2-b5af-bcff156ca1f2" xsi:nil="true"/>
  </documentManagement>
</p:properties>
</file>

<file path=customXml/itemProps1.xml><?xml version="1.0" encoding="utf-8"?>
<ds:datastoreItem xmlns:ds="http://schemas.openxmlformats.org/officeDocument/2006/customXml" ds:itemID="{89692ABC-BAA6-4497-8822-3CCF58D030D1}"/>
</file>

<file path=customXml/itemProps2.xml><?xml version="1.0" encoding="utf-8"?>
<ds:datastoreItem xmlns:ds="http://schemas.openxmlformats.org/officeDocument/2006/customXml" ds:itemID="{E48DDBD2-8DB5-4E0D-8921-25A1CCB62FFE}"/>
</file>

<file path=customXml/itemProps3.xml><?xml version="1.0" encoding="utf-8"?>
<ds:datastoreItem xmlns:ds="http://schemas.openxmlformats.org/officeDocument/2006/customXml" ds:itemID="{D0B300B2-2A85-4358-930A-9D90C21289A7}"/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16</TotalTime>
  <Words>728</Words>
  <Application>Microsoft Office PowerPoint</Application>
  <PresentationFormat>On-screen Show (4:3)</PresentationFormat>
  <Paragraphs>232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Calisto MT</vt:lpstr>
      <vt:lpstr>Wingdings 2</vt:lpstr>
      <vt:lpstr>Slate</vt:lpstr>
      <vt:lpstr>InventoryHub</vt:lpstr>
      <vt:lpstr>Background &amp; Motivation</vt:lpstr>
      <vt:lpstr>Project Objectives</vt:lpstr>
      <vt:lpstr>System Overview</vt:lpstr>
      <vt:lpstr>Security Requirements</vt:lpstr>
      <vt:lpstr>Threat Modelling</vt:lpstr>
      <vt:lpstr>STRIDE Analysis</vt:lpstr>
      <vt:lpstr>Use Case &amp; Data Flow Analysis</vt:lpstr>
      <vt:lpstr>Secure Architecture</vt:lpstr>
      <vt:lpstr>Authentication &amp; Authorization</vt:lpstr>
      <vt:lpstr>Security Controls Implemented</vt:lpstr>
      <vt:lpstr>Redis &amp; Kafka Integration</vt:lpstr>
      <vt:lpstr>Security Testing</vt:lpstr>
      <vt:lpstr>Docker Security</vt:lpstr>
      <vt:lpstr>Kubernetes Security</vt:lpstr>
      <vt:lpstr>Infrastructure as Code</vt:lpstr>
      <vt:lpstr>Secrets Management</vt:lpstr>
      <vt:lpstr>DevSecOps Pipeline</vt:lpstr>
      <vt:lpstr>Monitoring &amp; AI Security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Anees Paracha</dc:creator>
  <cp:keywords/>
  <dc:description>generated using python-pptx</dc:description>
  <cp:lastModifiedBy>(SP23-BCT-051) WALEED AHMAD FAROOQI</cp:lastModifiedBy>
  <cp:revision>3</cp:revision>
  <dcterms:created xsi:type="dcterms:W3CDTF">2013-01-27T09:14:16Z</dcterms:created>
  <dcterms:modified xsi:type="dcterms:W3CDTF">2026-06-12T19:56:40Z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0x010100CFE966DAFB71DE4DBB34F03BB13CE050</vt:lpwstr>
  </property>
</Properties>
</file>